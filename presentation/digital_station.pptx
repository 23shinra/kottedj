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1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E8EDF6"/>
                </a:solidFill>
                <a:latin typeface="Arial"/>
              </a:defRPr>
            </a:pPr>
            <a:r>
              <a:rPr sz="1200" b="0" i="0" u="none" strike="noStrike">
                <a:solidFill>
                  <a:srgbClr val="E8EDF6"/>
                </a:solidFill>
                <a:latin typeface="Arial"/>
              </a:rPr>
              <a:t>Среднее ожидание приёма, мин (накопительно)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Без ИИ (FCFS)</c:v>
                </c:pt>
              </c:strCache>
            </c:strRef>
          </c:tx>
          <c:spPr>
            <a:solidFill>
              <a:srgbClr val="F0524F"/>
            </a:solidFill>
            <a:ln w="31750" cap="flat">
              <a:solidFill>
                <a:srgbClr val="F0524F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5"/>
            <c:spPr>
              <a:solidFill>
                <a:srgbClr val="F0524F"/>
              </a:solidFill>
              <a:ln w="9525" cap="flat">
                <a:solidFill>
                  <a:srgbClr val="F0524F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Sheet1!$A$2:$A$13</c:f>
              <c:multiLvlStrCache>
                <c:ptCount val="12"/>
                <c:lvl>
                  <c:pt idx="0">
                    <c:v>1 ч</c:v>
                  </c:pt>
                  <c:pt idx="1">
                    <c:v>2 ч</c:v>
                  </c:pt>
                  <c:pt idx="2">
                    <c:v>3 ч</c:v>
                  </c:pt>
                  <c:pt idx="3">
                    <c:v>4 ч</c:v>
                  </c:pt>
                  <c:pt idx="4">
                    <c:v>5 ч</c:v>
                  </c:pt>
                  <c:pt idx="5">
                    <c:v>6 ч</c:v>
                  </c:pt>
                  <c:pt idx="6">
                    <c:v>7 ч</c:v>
                  </c:pt>
                  <c:pt idx="7">
                    <c:v>8 ч</c:v>
                  </c:pt>
                  <c:pt idx="8">
                    <c:v>9 ч</c:v>
                  </c:pt>
                  <c:pt idx="9">
                    <c:v>10 ч</c:v>
                  </c:pt>
                  <c:pt idx="10">
                    <c:v>11 ч</c:v>
                  </c:pt>
                  <c:pt idx="11">
                    <c:v>12 ч</c:v>
                  </c:pt>
                </c:lvl>
              </c:multiLvlStrCache>
            </c:multiLvl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2.1</c:v>
                </c:pt>
                <c:pt idx="1">
                  <c:v>6.2</c:v>
                </c:pt>
                <c:pt idx="2">
                  <c:v>17.8</c:v>
                </c:pt>
                <c:pt idx="3">
                  <c:v>25.1</c:v>
                </c:pt>
                <c:pt idx="4">
                  <c:v>38.9</c:v>
                </c:pt>
                <c:pt idx="5">
                  <c:v>35.3</c:v>
                </c:pt>
                <c:pt idx="6">
                  <c:v>34.4</c:v>
                </c:pt>
                <c:pt idx="7">
                  <c:v>32.1</c:v>
                </c:pt>
                <c:pt idx="8">
                  <c:v>30</c:v>
                </c:pt>
                <c:pt idx="9">
                  <c:v>29.4</c:v>
                </c:pt>
                <c:pt idx="10">
                  <c:v>28.3</c:v>
                </c:pt>
                <c:pt idx="11">
                  <c:v>28.8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С ИИ</c:v>
                </c:pt>
              </c:strCache>
            </c:strRef>
          </c:tx>
          <c:spPr>
            <a:solidFill>
              <a:srgbClr val="34D27F"/>
            </a:solidFill>
            <a:ln w="31750" cap="flat">
              <a:solidFill>
                <a:srgbClr val="34D27F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5"/>
            <c:spPr>
              <a:solidFill>
                <a:srgbClr val="34D27F"/>
              </a:solidFill>
              <a:ln w="9525" cap="flat">
                <a:solidFill>
                  <a:srgbClr val="34D27F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Sheet1!$A$2:$A$13</c:f>
              <c:multiLvlStrCache>
                <c:ptCount val="12"/>
                <c:lvl>
                  <c:pt idx="0">
                    <c:v>1 ч</c:v>
                  </c:pt>
                  <c:pt idx="1">
                    <c:v>2 ч</c:v>
                  </c:pt>
                  <c:pt idx="2">
                    <c:v>3 ч</c:v>
                  </c:pt>
                  <c:pt idx="3">
                    <c:v>4 ч</c:v>
                  </c:pt>
                  <c:pt idx="4">
                    <c:v>5 ч</c:v>
                  </c:pt>
                  <c:pt idx="5">
                    <c:v>6 ч</c:v>
                  </c:pt>
                  <c:pt idx="6">
                    <c:v>7 ч</c:v>
                  </c:pt>
                  <c:pt idx="7">
                    <c:v>8 ч</c:v>
                  </c:pt>
                  <c:pt idx="8">
                    <c:v>9 ч</c:v>
                  </c:pt>
                  <c:pt idx="9">
                    <c:v>10 ч</c:v>
                  </c:pt>
                  <c:pt idx="10">
                    <c:v>11 ч</c:v>
                  </c:pt>
                  <c:pt idx="11">
                    <c:v>12 ч</c:v>
                  </c:pt>
                </c:lvl>
              </c:multiLvlStrCache>
            </c:multiLvlStrRef>
          </c:cat>
          <c:val>
            <c:numRef>
              <c:f>Sheet1!$C$2:$C$13</c:f>
              <c:numCache>
                <c:formatCode>General</c:formatCode>
                <c:ptCount val="12"/>
                <c:pt idx="0">
                  <c:v>3</c:v>
                </c:pt>
                <c:pt idx="1">
                  <c:v>5.4</c:v>
                </c:pt>
                <c:pt idx="2">
                  <c:v>11.6</c:v>
                </c:pt>
                <c:pt idx="3">
                  <c:v>14.3</c:v>
                </c:pt>
                <c:pt idx="4">
                  <c:v>14.2</c:v>
                </c:pt>
                <c:pt idx="5">
                  <c:v>12.4</c:v>
                </c:pt>
                <c:pt idx="6">
                  <c:v>12.6</c:v>
                </c:pt>
                <c:pt idx="7">
                  <c:v>11.7</c:v>
                </c:pt>
                <c:pt idx="8">
                  <c:v>10.7</c:v>
                </c:pt>
                <c:pt idx="9">
                  <c:v>10.7</c:v>
                </c:pt>
                <c:pt idx="10">
                  <c:v>10.3</c:v>
                </c:pt>
                <c:pt idx="11">
                  <c:v>11.1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26344F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8E9DB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26344F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8E9DB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E8EDF6"/>
              </a:solidFill>
              <a:latin typeface="Arial"/>
              <a:cs typeface="Arial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Мы сделали ИИ-диспетчера станции. Главный результат: на модельных 12 часах с двукратной перегрузкой ожидание приёма падает на 61%, остановок у входного сигнала становится в 4,7 раза меньше.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Это не выдуманные цифры: так ведёт себя реактивный диспетчер на нашем симуляторе при двукратном спросе.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Оба двойника получают одинаковый график и одинаковые сбои. Разница только в способе управления. Пропускная выросла на 7%: в тот же интервал станция отправила на 9 поездов больше.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ui_mai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63440" y="1188720"/>
            <a:ext cx="4480560" cy="2798064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57200" y="548640"/>
            <a:ext cx="548640" cy="548640"/>
          </a:xfrm>
          <a:prstGeom prst="ellipse">
            <a:avLst/>
          </a:prstGeom>
          <a:solidFill>
            <a:srgbClr val="7B8CFF">
              <a:alpha val="18000"/>
            </a:srgbClr>
          </a:solidFill>
          <a:ln w="9525">
            <a:solidFill>
              <a:srgbClr val="7B8CFF">
                <a:alpha val="60000"/>
              </a:srgbClr>
            </a:solidFill>
            <a:prstDash val="solid"/>
          </a:ln>
        </p:spPr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8874" y="680314"/>
            <a:ext cx="285293" cy="285293"/>
          </a:xfrm>
          <a:prstGeom prst="rect">
            <a:avLst/>
          </a:prstGeom>
        </p:spPr>
      </p:pic>
      <p:sp>
        <p:nvSpPr>
          <p:cNvPr id="5" name="Text 1"/>
          <p:cNvSpPr txBox="1"/>
          <p:nvPr/>
        </p:nvSpPr>
        <p:spPr>
          <a:xfrm>
            <a:off x="457200" y="1234440"/>
            <a:ext cx="4114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800" b="1" dirty="0">
                <a:solidFill>
                  <a:srgbClr val="E8ED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Цифровая станция</a:t>
            </a:r>
            <a:endParaRPr lang="en-US" sz="3800" dirty="0"/>
          </a:p>
        </p:txBody>
      </p:sp>
      <p:sp>
        <p:nvSpPr>
          <p:cNvPr id="6" name="Text 2"/>
          <p:cNvSpPr txBox="1"/>
          <p:nvPr/>
        </p:nvSpPr>
        <p:spPr>
          <a:xfrm>
            <a:off x="457200" y="2423160"/>
            <a:ext cx="4023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8E9D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ИИ-диспетчер, который превращает очередь у входного сигнала в управляемый поток</a:t>
            </a:r>
            <a:endParaRPr lang="en-US" sz="1500" dirty="0"/>
          </a:p>
        </p:txBody>
      </p:sp>
      <p:sp>
        <p:nvSpPr>
          <p:cNvPr id="7" name="Text 3"/>
          <p:cNvSpPr txBox="1"/>
          <p:nvPr/>
        </p:nvSpPr>
        <p:spPr>
          <a:xfrm>
            <a:off x="457200" y="329184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34D2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−61%</a:t>
            </a:r>
            <a:endParaRPr lang="en-US" sz="2400" dirty="0"/>
          </a:p>
        </p:txBody>
      </p:sp>
      <p:sp>
        <p:nvSpPr>
          <p:cNvPr id="8" name="Text 4"/>
          <p:cNvSpPr txBox="1"/>
          <p:nvPr/>
        </p:nvSpPr>
        <p:spPr>
          <a:xfrm>
            <a:off x="457200" y="3749040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8E9D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ожидание приёма</a:t>
            </a:r>
            <a:endParaRPr lang="en-US" sz="1050" dirty="0"/>
          </a:p>
        </p:txBody>
      </p:sp>
      <p:sp>
        <p:nvSpPr>
          <p:cNvPr id="9" name="Text 5"/>
          <p:cNvSpPr txBox="1"/>
          <p:nvPr/>
        </p:nvSpPr>
        <p:spPr>
          <a:xfrm>
            <a:off x="1828800" y="329184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34D2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−79%</a:t>
            </a:r>
            <a:endParaRPr lang="en-US" sz="2400" dirty="0"/>
          </a:p>
        </p:txBody>
      </p:sp>
      <p:sp>
        <p:nvSpPr>
          <p:cNvPr id="10" name="Text 6"/>
          <p:cNvSpPr txBox="1"/>
          <p:nvPr/>
        </p:nvSpPr>
        <p:spPr>
          <a:xfrm>
            <a:off x="1828800" y="3749040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8E9D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остановок у сигнала</a:t>
            </a:r>
            <a:endParaRPr lang="en-US" sz="1050" dirty="0"/>
          </a:p>
        </p:txBody>
      </p:sp>
      <p:sp>
        <p:nvSpPr>
          <p:cNvPr id="11" name="Text 7"/>
          <p:cNvSpPr txBox="1"/>
          <p:nvPr/>
        </p:nvSpPr>
        <p:spPr>
          <a:xfrm>
            <a:off x="3200400" y="329184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34D2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1,8 с</a:t>
            </a:r>
            <a:endParaRPr lang="en-US" sz="2400" dirty="0"/>
          </a:p>
        </p:txBody>
      </p:sp>
      <p:sp>
        <p:nvSpPr>
          <p:cNvPr id="12" name="Text 8"/>
          <p:cNvSpPr txBox="1"/>
          <p:nvPr/>
        </p:nvSpPr>
        <p:spPr>
          <a:xfrm>
            <a:off x="3200400" y="3749040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8E9D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новый план при сбое</a:t>
            </a:r>
            <a:endParaRPr lang="en-US" sz="1050" dirty="0"/>
          </a:p>
        </p:txBody>
      </p:sp>
      <p:sp>
        <p:nvSpPr>
          <p:cNvPr id="13" name="Text 9"/>
          <p:cNvSpPr txBox="1"/>
          <p:nvPr/>
        </p:nvSpPr>
        <p:spPr>
          <a:xfrm>
            <a:off x="457200" y="452628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8E9D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Хакатон · кейс «Цифровая станция»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7B8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ПРОБЛЕМА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486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8ED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Поездов вдвое больше, чем мест на станции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188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8E9D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пик к станции подходит условно 200 поездов при ёмкости 100. Диспетчер принимает их по факту прибытия, и очередь растёт прямо на перегоне.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965960"/>
            <a:ext cx="2606040" cy="1600200"/>
          </a:xfrm>
          <a:prstGeom prst="roundRect">
            <a:avLst>
              <a:gd name="adj" fmla="val 5714"/>
            </a:avLst>
          </a:prstGeom>
          <a:solidFill>
            <a:srgbClr val="131C2E"/>
          </a:solidFill>
          <a:ln w="9525">
            <a:solidFill>
              <a:srgbClr val="26344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85800" y="214884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05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120 мин</a:t>
            </a:r>
            <a:endParaRPr lang="en-US" sz="40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288036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E8ED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максимальное ожидание у входного сигнала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246120" y="1965960"/>
            <a:ext cx="2606040" cy="1600200"/>
          </a:xfrm>
          <a:prstGeom prst="roundRect">
            <a:avLst>
              <a:gd name="adj" fmla="val 5714"/>
            </a:avLst>
          </a:prstGeom>
          <a:solidFill>
            <a:srgbClr val="131C2E"/>
          </a:solidFill>
          <a:ln w="9525">
            <a:solidFill>
              <a:srgbClr val="26344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474720" y="214884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5A5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114</a:t>
            </a:r>
            <a:endParaRPr lang="en-US" sz="4000" dirty="0"/>
          </a:p>
        </p:txBody>
      </p:sp>
      <p:sp>
        <p:nvSpPr>
          <p:cNvPr id="10" name="Text 8"/>
          <p:cNvSpPr txBox="1"/>
          <p:nvPr/>
        </p:nvSpPr>
        <p:spPr>
          <a:xfrm>
            <a:off x="3474720" y="288036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E8ED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остановок у сигнала за 12 часов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035040" y="1965960"/>
            <a:ext cx="2606040" cy="1600200"/>
          </a:xfrm>
          <a:prstGeom prst="roundRect">
            <a:avLst>
              <a:gd name="adj" fmla="val 5714"/>
            </a:avLst>
          </a:prstGeom>
          <a:solidFill>
            <a:srgbClr val="131C2E"/>
          </a:solidFill>
          <a:ln w="9525">
            <a:solidFill>
              <a:srgbClr val="26344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263640" y="214884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5A5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 мин</a:t>
            </a:r>
            <a:endParaRPr lang="en-US" sz="4000" dirty="0"/>
          </a:p>
        </p:txBody>
      </p:sp>
      <p:sp>
        <p:nvSpPr>
          <p:cNvPr id="13" name="Text 11"/>
          <p:cNvSpPr txBox="1"/>
          <p:nvPr/>
        </p:nvSpPr>
        <p:spPr>
          <a:xfrm>
            <a:off x="6263640" y="288036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E8ED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средняя задержка пассажирского поезда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457200" y="39319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8E9D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Цифры — базовый диспетчер «первым пришёл — первым принят» (FCFS) на нашем цифровом двойнике: 12 модельных часов, три пика со спросом ×2.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7B8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КОРЕНЬ ПРОБЛЕМЫ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486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8ED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Поезд ждёт не только свободный путь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4023360" cy="1463040"/>
          </a:xfrm>
          <a:prstGeom prst="roundRect">
            <a:avLst>
              <a:gd name="adj" fmla="val 6250"/>
            </a:avLst>
          </a:prstGeom>
          <a:solidFill>
            <a:srgbClr val="131C2E"/>
          </a:solidFill>
          <a:ln w="9525">
            <a:solidFill>
              <a:srgbClr val="26344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1581912"/>
            <a:ext cx="420624" cy="420624"/>
          </a:xfrm>
          <a:prstGeom prst="ellipse">
            <a:avLst/>
          </a:prstGeom>
          <a:solidFill>
            <a:srgbClr val="F0524F">
              <a:alpha val="18000"/>
            </a:srgbClr>
          </a:solidFill>
          <a:ln w="9525">
            <a:solidFill>
              <a:srgbClr val="F0524F">
                <a:alpha val="60000"/>
              </a:srgbClr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6750" y="1682862"/>
            <a:ext cx="218724" cy="218724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280160" y="155448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ED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Очередь на перегоне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1280160" y="1984248"/>
            <a:ext cx="3017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8E9D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Поезд останавливается у входного сигнала и блокирует перегон для всех, кто идёт следом.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663440" y="1325880"/>
            <a:ext cx="4023360" cy="1463040"/>
          </a:xfrm>
          <a:prstGeom prst="roundRect">
            <a:avLst>
              <a:gd name="adj" fmla="val 6250"/>
            </a:avLst>
          </a:prstGeom>
          <a:solidFill>
            <a:srgbClr val="131C2E"/>
          </a:solidFill>
          <a:ln w="9525">
            <a:solidFill>
              <a:srgbClr val="26344F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892040" y="1581912"/>
            <a:ext cx="420624" cy="420624"/>
          </a:xfrm>
          <a:prstGeom prst="ellipse">
            <a:avLst/>
          </a:prstGeom>
          <a:solidFill>
            <a:srgbClr val="F5A524">
              <a:alpha val="18000"/>
            </a:srgbClr>
          </a:solidFill>
          <a:ln w="9525">
            <a:solidFill>
              <a:srgbClr val="F5A524">
                <a:alpha val="60000"/>
              </a:srgbClr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92990" y="1682862"/>
            <a:ext cx="218724" cy="218724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5486400" y="155448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ED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Ресурсы подаются по факту</a:t>
            </a:r>
            <a:endParaRPr lang="en-US" sz="1600" dirty="0"/>
          </a:p>
        </p:txBody>
      </p:sp>
      <p:sp>
        <p:nvSpPr>
          <p:cNvPr id="13" name="Text 9"/>
          <p:cNvSpPr txBox="1"/>
          <p:nvPr/>
        </p:nvSpPr>
        <p:spPr>
          <a:xfrm>
            <a:off x="5486400" y="1984248"/>
            <a:ext cx="3017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8E9D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Путь свободен, но локомотив и бригада приходят только когда состав уже готов к отправлению.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457200" y="3017520"/>
            <a:ext cx="4023360" cy="1463040"/>
          </a:xfrm>
          <a:prstGeom prst="roundRect">
            <a:avLst>
              <a:gd name="adj" fmla="val 6250"/>
            </a:avLst>
          </a:prstGeom>
          <a:solidFill>
            <a:srgbClr val="131C2E"/>
          </a:solidFill>
          <a:ln w="9525">
            <a:solidFill>
              <a:srgbClr val="26344F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685800" y="3273552"/>
            <a:ext cx="420624" cy="420624"/>
          </a:xfrm>
          <a:prstGeom prst="ellipse">
            <a:avLst/>
          </a:prstGeom>
          <a:solidFill>
            <a:srgbClr val="F5A524">
              <a:alpha val="18000"/>
            </a:srgbClr>
          </a:solidFill>
          <a:ln w="9525">
            <a:solidFill>
              <a:srgbClr val="F5A524">
                <a:alpha val="60000"/>
              </a:srgbClr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6750" y="3374502"/>
            <a:ext cx="218724" cy="218724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1280160" y="324612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ED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Конфликты в горловине</a:t>
            </a:r>
            <a:endParaRPr lang="en-US" sz="1600" dirty="0"/>
          </a:p>
        </p:txBody>
      </p:sp>
      <p:sp>
        <p:nvSpPr>
          <p:cNvPr id="18" name="Text 13"/>
          <p:cNvSpPr txBox="1"/>
          <p:nvPr/>
        </p:nvSpPr>
        <p:spPr>
          <a:xfrm>
            <a:off x="1280160" y="3675888"/>
            <a:ext cx="3017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8E9D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Маршруты пересекаются на стрелках, и поезда ждут друг друга даже при свободных путях.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4663440" y="3017520"/>
            <a:ext cx="4023360" cy="1463040"/>
          </a:xfrm>
          <a:prstGeom prst="roundRect">
            <a:avLst>
              <a:gd name="adj" fmla="val 6250"/>
            </a:avLst>
          </a:prstGeom>
          <a:solidFill>
            <a:srgbClr val="131C2E"/>
          </a:solidFill>
          <a:ln w="9525">
            <a:solidFill>
              <a:srgbClr val="26344F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4892040" y="3273552"/>
            <a:ext cx="420624" cy="420624"/>
          </a:xfrm>
          <a:prstGeom prst="ellipse">
            <a:avLst/>
          </a:prstGeom>
          <a:solidFill>
            <a:srgbClr val="8E9DB8">
              <a:alpha val="18000"/>
            </a:srgbClr>
          </a:solidFill>
          <a:ln w="9525">
            <a:solidFill>
              <a:srgbClr val="8E9DB8">
                <a:alpha val="60000"/>
              </a:srgbClr>
            </a:solidFill>
            <a:prstDash val="solid"/>
          </a:ln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92990" y="3374502"/>
            <a:ext cx="218724" cy="218724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5486400" y="324612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ED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Ручное перепланирование</a:t>
            </a:r>
            <a:endParaRPr lang="en-US" sz="1600" dirty="0"/>
          </a:p>
        </p:txBody>
      </p:sp>
      <p:sp>
        <p:nvSpPr>
          <p:cNvPr id="23" name="Text 17"/>
          <p:cNvSpPr txBox="1"/>
          <p:nvPr/>
        </p:nvSpPr>
        <p:spPr>
          <a:xfrm>
            <a:off x="5486400" y="3675888"/>
            <a:ext cx="3017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8E9D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При сбое диспетчер пересобирает план в голове. Это долго и зависит от опыта конкретного человека.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7B8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РЕШЕНИЕ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486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8ED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Управляемый поток вместо стихийной очереди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420624" cy="420624"/>
          </a:xfrm>
          <a:prstGeom prst="ellipse">
            <a:avLst/>
          </a:prstGeom>
          <a:solidFill>
            <a:srgbClr val="7B8CFF">
              <a:alpha val="18000"/>
            </a:srgbClr>
          </a:solidFill>
          <a:ln w="9525">
            <a:solidFill>
              <a:srgbClr val="7B8CFF">
                <a:alpha val="60000"/>
              </a:srgbClr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8150" y="1426830"/>
            <a:ext cx="218724" cy="218724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051560" y="1280160"/>
            <a:ext cx="2926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E8ED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Слоты прибытия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1051560" y="1609344"/>
            <a:ext cx="32918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8E9D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Каждому поезду на подходе — время приёма и конкретный путь. Вместо стоянки у сигнала: снизить скорость или задержаться на предыдущей станции.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457200" y="2221992"/>
            <a:ext cx="420624" cy="420624"/>
          </a:xfrm>
          <a:prstGeom prst="ellipse">
            <a:avLst/>
          </a:prstGeom>
          <a:solidFill>
            <a:srgbClr val="7B8CFF">
              <a:alpha val="18000"/>
            </a:srgbClr>
          </a:solidFill>
          <a:ln w="9525">
            <a:solidFill>
              <a:srgbClr val="7B8CFF">
                <a:alpha val="60000"/>
              </a:srgbClr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8150" y="2322942"/>
            <a:ext cx="218724" cy="218724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051560" y="2176272"/>
            <a:ext cx="2926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E8ED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Совместная оптимизация</a:t>
            </a:r>
            <a:endParaRPr lang="en-US" sz="1500" dirty="0"/>
          </a:p>
        </p:txBody>
      </p:sp>
      <p:sp>
        <p:nvSpPr>
          <p:cNvPr id="11" name="Text 7"/>
          <p:cNvSpPr txBox="1"/>
          <p:nvPr/>
        </p:nvSpPr>
        <p:spPr>
          <a:xfrm>
            <a:off x="1051560" y="2505456"/>
            <a:ext cx="32918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8E9D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CP-SAT (Google OR-Tools) одновременно распределяет пути, маршруты через горловины, локомотивы и бригады.</a:t>
            </a:r>
            <a:endParaRPr lang="en-US" sz="1050" dirty="0"/>
          </a:p>
        </p:txBody>
      </p:sp>
      <p:sp>
        <p:nvSpPr>
          <p:cNvPr id="12" name="Shape 8"/>
          <p:cNvSpPr/>
          <p:nvPr/>
        </p:nvSpPr>
        <p:spPr>
          <a:xfrm>
            <a:off x="457200" y="3118104"/>
            <a:ext cx="420624" cy="420624"/>
          </a:xfrm>
          <a:prstGeom prst="ellipse">
            <a:avLst/>
          </a:prstGeom>
          <a:solidFill>
            <a:srgbClr val="7B8CFF">
              <a:alpha val="18000"/>
            </a:srgbClr>
          </a:solidFill>
          <a:ln w="9525">
            <a:solidFill>
              <a:srgbClr val="7B8CFF">
                <a:alpha val="60000"/>
              </a:srgbClr>
            </a:solidFill>
            <a:prstDash val="solid"/>
          </a:ln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8150" y="3219054"/>
            <a:ext cx="218724" cy="218724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1051560" y="3072384"/>
            <a:ext cx="2926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E8ED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Перепланирование за ~2 с</a:t>
            </a:r>
            <a:endParaRPr lang="en-US" sz="1500" dirty="0"/>
          </a:p>
        </p:txBody>
      </p:sp>
      <p:sp>
        <p:nvSpPr>
          <p:cNvPr id="15" name="Text 10"/>
          <p:cNvSpPr txBox="1"/>
          <p:nvPr/>
        </p:nvSpPr>
        <p:spPr>
          <a:xfrm>
            <a:off x="1051560" y="3401568"/>
            <a:ext cx="32918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8E9D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При сбое считаются три варианта плана параллельно. Лучший применяется сразу, диспетчер может выбрать другой.</a:t>
            </a:r>
            <a:endParaRPr lang="en-US" sz="1050" dirty="0"/>
          </a:p>
        </p:txBody>
      </p:sp>
      <p:sp>
        <p:nvSpPr>
          <p:cNvPr id="16" name="Shape 11"/>
          <p:cNvSpPr/>
          <p:nvPr/>
        </p:nvSpPr>
        <p:spPr>
          <a:xfrm>
            <a:off x="457200" y="4014216"/>
            <a:ext cx="420624" cy="420624"/>
          </a:xfrm>
          <a:prstGeom prst="ellipse">
            <a:avLst/>
          </a:prstGeom>
          <a:solidFill>
            <a:srgbClr val="7B8CFF">
              <a:alpha val="18000"/>
            </a:srgbClr>
          </a:solidFill>
          <a:ln w="9525">
            <a:solidFill>
              <a:srgbClr val="7B8CFF">
                <a:alpha val="60000"/>
              </a:srgbClr>
            </a:solidFill>
            <a:prstDash val="solid"/>
          </a:ln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8150" y="4115166"/>
            <a:ext cx="218724" cy="218724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1051560" y="3968496"/>
            <a:ext cx="2926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E8ED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Прогноз на час вперёд</a:t>
            </a:r>
            <a:endParaRPr lang="en-US" sz="1500" dirty="0"/>
          </a:p>
        </p:txBody>
      </p:sp>
      <p:sp>
        <p:nvSpPr>
          <p:cNvPr id="19" name="Text 13"/>
          <p:cNvSpPr txBox="1"/>
          <p:nvPr/>
        </p:nvSpPr>
        <p:spPr>
          <a:xfrm>
            <a:off x="1051560" y="4297680"/>
            <a:ext cx="32918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8E9D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Дефицит путей и ресурсов виден заранее. Рекомендации вроде «открыть резервный путь 10» — в одно нажатие.</a:t>
            </a:r>
            <a:endParaRPr lang="en-US" sz="1050" dirty="0"/>
          </a:p>
        </p:txBody>
      </p:sp>
      <p:sp>
        <p:nvSpPr>
          <p:cNvPr id="20" name="Shape 14"/>
          <p:cNvSpPr/>
          <p:nvPr/>
        </p:nvSpPr>
        <p:spPr>
          <a:xfrm>
            <a:off x="4663440" y="1280160"/>
            <a:ext cx="4023360" cy="3383280"/>
          </a:xfrm>
          <a:prstGeom prst="roundRect">
            <a:avLst>
              <a:gd name="adj" fmla="val 2703"/>
            </a:avLst>
          </a:prstGeom>
          <a:solidFill>
            <a:srgbClr val="131C2E"/>
          </a:solidFill>
          <a:ln w="9525">
            <a:solidFill>
              <a:srgbClr val="26344F"/>
            </a:solidFill>
            <a:prstDash val="solid"/>
          </a:ln>
        </p:spPr>
      </p:sp>
      <p:sp>
        <p:nvSpPr>
          <p:cNvPr id="21" name="Text 15"/>
          <p:cNvSpPr txBox="1"/>
          <p:nvPr/>
        </p:nvSpPr>
        <p:spPr>
          <a:xfrm>
            <a:off x="4937760" y="146304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7B8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Принцип из авиации</a:t>
            </a:r>
            <a:endParaRPr lang="en-US" sz="1200" dirty="0"/>
          </a:p>
        </p:txBody>
      </p:sp>
      <p:sp>
        <p:nvSpPr>
          <p:cNvPr id="22" name="Text 16"/>
          <p:cNvSpPr txBox="1"/>
          <p:nvPr/>
        </p:nvSpPr>
        <p:spPr>
          <a:xfrm>
            <a:off x="4937760" y="1783080"/>
            <a:ext cx="3520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8ED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Ground delay program: самолёт ждёт на земле в аэропорту вылета, а не кружит над аэропортом назначения. Мы переносим этот принцип на железную дорогу.</a:t>
            </a:r>
            <a:endParaRPr lang="en-US" sz="1200" dirty="0"/>
          </a:p>
        </p:txBody>
      </p:sp>
      <p:sp>
        <p:nvSpPr>
          <p:cNvPr id="23" name="Shape 17"/>
          <p:cNvSpPr/>
          <p:nvPr/>
        </p:nvSpPr>
        <p:spPr>
          <a:xfrm>
            <a:off x="4937760" y="2898648"/>
            <a:ext cx="685800" cy="237744"/>
          </a:xfrm>
          <a:prstGeom prst="roundRect">
            <a:avLst>
              <a:gd name="adj" fmla="val 23077"/>
            </a:avLst>
          </a:prstGeom>
          <a:solidFill>
            <a:srgbClr val="F0524F">
              <a:alpha val="20000"/>
            </a:srgbClr>
          </a:solidFill>
          <a:ln w="9525">
            <a:solidFill>
              <a:srgbClr val="F0524F"/>
            </a:solidFill>
            <a:prstDash val="solid"/>
          </a:ln>
        </p:spPr>
      </p:sp>
      <p:sp>
        <p:nvSpPr>
          <p:cNvPr id="24" name="Text 18"/>
          <p:cNvSpPr txBox="1"/>
          <p:nvPr/>
        </p:nvSpPr>
        <p:spPr>
          <a:xfrm>
            <a:off x="4937760" y="2898648"/>
            <a:ext cx="685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05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Было</a:t>
            </a:r>
            <a:endParaRPr lang="en-US" sz="1000" dirty="0"/>
          </a:p>
        </p:txBody>
      </p:sp>
      <p:sp>
        <p:nvSpPr>
          <p:cNvPr id="25" name="Text 19"/>
          <p:cNvSpPr txBox="1"/>
          <p:nvPr/>
        </p:nvSpPr>
        <p:spPr>
          <a:xfrm>
            <a:off x="5760720" y="2880360"/>
            <a:ext cx="2743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E8ED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поезд едет на полной скорости → стоит у сигнала 40 мин</a:t>
            </a:r>
            <a:endParaRPr lang="en-US" sz="1150" dirty="0"/>
          </a:p>
        </p:txBody>
      </p:sp>
      <p:sp>
        <p:nvSpPr>
          <p:cNvPr id="26" name="Shape 20"/>
          <p:cNvSpPr/>
          <p:nvPr/>
        </p:nvSpPr>
        <p:spPr>
          <a:xfrm>
            <a:off x="4937760" y="3721608"/>
            <a:ext cx="685800" cy="237744"/>
          </a:xfrm>
          <a:prstGeom prst="roundRect">
            <a:avLst>
              <a:gd name="adj" fmla="val 23077"/>
            </a:avLst>
          </a:prstGeom>
          <a:solidFill>
            <a:srgbClr val="34D27F">
              <a:alpha val="20000"/>
            </a:srgbClr>
          </a:solidFill>
          <a:ln w="9525">
            <a:solidFill>
              <a:srgbClr val="34D27F"/>
            </a:solidFill>
            <a:prstDash val="solid"/>
          </a:ln>
        </p:spPr>
      </p:sp>
      <p:sp>
        <p:nvSpPr>
          <p:cNvPr id="27" name="Text 21"/>
          <p:cNvSpPr txBox="1"/>
          <p:nvPr/>
        </p:nvSpPr>
        <p:spPr>
          <a:xfrm>
            <a:off x="4937760" y="3721608"/>
            <a:ext cx="685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4D2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Стало</a:t>
            </a:r>
            <a:endParaRPr lang="en-US" sz="1000" dirty="0"/>
          </a:p>
        </p:txBody>
      </p:sp>
      <p:sp>
        <p:nvSpPr>
          <p:cNvPr id="28" name="Text 22"/>
          <p:cNvSpPr txBox="1"/>
          <p:nvPr/>
        </p:nvSpPr>
        <p:spPr>
          <a:xfrm>
            <a:off x="5760720" y="3703320"/>
            <a:ext cx="2743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E8ED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поезд едет 35 км/ч → входит в свой слот без остановки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7B8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КАК ЭТО РАБОТАЕТ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486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8ED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Цикл планирования: от данных до команды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1874520" cy="2103120"/>
          </a:xfrm>
          <a:prstGeom prst="roundRect">
            <a:avLst>
              <a:gd name="adj" fmla="val 4878"/>
            </a:avLst>
          </a:prstGeom>
          <a:solidFill>
            <a:srgbClr val="131C2E"/>
          </a:solidFill>
          <a:ln w="9525">
            <a:solidFill>
              <a:srgbClr val="26344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600200"/>
            <a:ext cx="310896" cy="237744"/>
          </a:xfrm>
          <a:prstGeom prst="roundRect">
            <a:avLst>
              <a:gd name="adj" fmla="val 23077"/>
            </a:avLst>
          </a:prstGeom>
          <a:solidFill>
            <a:srgbClr val="7B8CFF">
              <a:alpha val="20000"/>
            </a:srgbClr>
          </a:solidFill>
          <a:ln w="9525">
            <a:solidFill>
              <a:srgbClr val="7B8CF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40080" y="1600200"/>
            <a:ext cx="3108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7B8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1728216" y="1536192"/>
            <a:ext cx="420624" cy="420624"/>
          </a:xfrm>
          <a:prstGeom prst="ellipse">
            <a:avLst/>
          </a:prstGeom>
          <a:solidFill>
            <a:srgbClr val="7B8CFF">
              <a:alpha val="18000"/>
            </a:srgbClr>
          </a:solidFill>
          <a:ln w="9525">
            <a:solidFill>
              <a:srgbClr val="7B8CFF">
                <a:alpha val="60000"/>
              </a:srgbClr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29166" y="1637142"/>
            <a:ext cx="218724" cy="218724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640080" y="2103120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E8ED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Телеметрия</a:t>
            </a:r>
            <a:endParaRPr lang="en-US" sz="1500" dirty="0"/>
          </a:p>
        </p:txBody>
      </p:sp>
      <p:sp>
        <p:nvSpPr>
          <p:cNvPr id="10" name="Text 7"/>
          <p:cNvSpPr txBox="1"/>
          <p:nvPr/>
        </p:nvSpPr>
        <p:spPr>
          <a:xfrm>
            <a:off x="640080" y="2487168"/>
            <a:ext cx="1508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8E9D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Позиции, скорости, занятость путей. Валидация, дедупликация, сглаживание.</a:t>
            </a:r>
            <a:endParaRPr lang="en-US" sz="1100" dirty="0"/>
          </a:p>
        </p:txBody>
      </p:sp>
      <p:sp>
        <p:nvSpPr>
          <p:cNvPr id="11" name="Text 8"/>
          <p:cNvSpPr txBox="1"/>
          <p:nvPr/>
        </p:nvSpPr>
        <p:spPr>
          <a:xfrm>
            <a:off x="2313432" y="2240280"/>
            <a:ext cx="2834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7B8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2200" dirty="0"/>
          </a:p>
        </p:txBody>
      </p:sp>
      <p:sp>
        <p:nvSpPr>
          <p:cNvPr id="12" name="Shape 9"/>
          <p:cNvSpPr/>
          <p:nvPr/>
        </p:nvSpPr>
        <p:spPr>
          <a:xfrm>
            <a:off x="2578608" y="1417320"/>
            <a:ext cx="1874520" cy="2103120"/>
          </a:xfrm>
          <a:prstGeom prst="roundRect">
            <a:avLst>
              <a:gd name="adj" fmla="val 4878"/>
            </a:avLst>
          </a:prstGeom>
          <a:solidFill>
            <a:srgbClr val="131C2E"/>
          </a:solidFill>
          <a:ln w="9525">
            <a:solidFill>
              <a:srgbClr val="26344F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2761488" y="1600200"/>
            <a:ext cx="310896" cy="237744"/>
          </a:xfrm>
          <a:prstGeom prst="roundRect">
            <a:avLst>
              <a:gd name="adj" fmla="val 23077"/>
            </a:avLst>
          </a:prstGeom>
          <a:solidFill>
            <a:srgbClr val="7B8CFF">
              <a:alpha val="20000"/>
            </a:srgbClr>
          </a:solidFill>
          <a:ln w="9525">
            <a:solidFill>
              <a:srgbClr val="7B8CFF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2761488" y="1600200"/>
            <a:ext cx="3108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7B8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3849624" y="1536192"/>
            <a:ext cx="420624" cy="420624"/>
          </a:xfrm>
          <a:prstGeom prst="ellipse">
            <a:avLst/>
          </a:prstGeom>
          <a:solidFill>
            <a:srgbClr val="7B8CFF">
              <a:alpha val="18000"/>
            </a:srgbClr>
          </a:solidFill>
          <a:ln w="9525">
            <a:solidFill>
              <a:srgbClr val="7B8CFF">
                <a:alpha val="60000"/>
              </a:srgbClr>
            </a:solidFill>
            <a:prstDash val="solid"/>
          </a:ln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50574" y="1637142"/>
            <a:ext cx="218724" cy="218724"/>
          </a:xfrm>
          <a:prstGeom prst="rect">
            <a:avLst/>
          </a:prstGeom>
        </p:spPr>
      </p:pic>
      <p:sp>
        <p:nvSpPr>
          <p:cNvPr id="17" name="Text 13"/>
          <p:cNvSpPr txBox="1"/>
          <p:nvPr/>
        </p:nvSpPr>
        <p:spPr>
          <a:xfrm>
            <a:off x="2761488" y="2103120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E8ED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Прогноз ETA</a:t>
            </a:r>
            <a:endParaRPr lang="en-US" sz="1500" dirty="0"/>
          </a:p>
        </p:txBody>
      </p:sp>
      <p:sp>
        <p:nvSpPr>
          <p:cNvPr id="18" name="Text 14"/>
          <p:cNvSpPr txBox="1"/>
          <p:nvPr/>
        </p:nvSpPr>
        <p:spPr>
          <a:xfrm>
            <a:off x="2761488" y="2487168"/>
            <a:ext cx="1508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8E9D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Когда каждый поезд подойдёт и чем будет занята станция через час.</a:t>
            </a:r>
            <a:endParaRPr lang="en-US" sz="1100" dirty="0"/>
          </a:p>
        </p:txBody>
      </p:sp>
      <p:sp>
        <p:nvSpPr>
          <p:cNvPr id="19" name="Text 15"/>
          <p:cNvSpPr txBox="1"/>
          <p:nvPr/>
        </p:nvSpPr>
        <p:spPr>
          <a:xfrm>
            <a:off x="4434840" y="2240280"/>
            <a:ext cx="2834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7B8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2200" dirty="0"/>
          </a:p>
        </p:txBody>
      </p:sp>
      <p:sp>
        <p:nvSpPr>
          <p:cNvPr id="20" name="Shape 16"/>
          <p:cNvSpPr/>
          <p:nvPr/>
        </p:nvSpPr>
        <p:spPr>
          <a:xfrm>
            <a:off x="4700016" y="1417320"/>
            <a:ext cx="1874520" cy="2103120"/>
          </a:xfrm>
          <a:prstGeom prst="roundRect">
            <a:avLst>
              <a:gd name="adj" fmla="val 4878"/>
            </a:avLst>
          </a:prstGeom>
          <a:solidFill>
            <a:srgbClr val="131C2E"/>
          </a:solidFill>
          <a:ln w="9525">
            <a:solidFill>
              <a:srgbClr val="26344F"/>
            </a:solidFill>
            <a:prstDash val="solid"/>
          </a:ln>
        </p:spPr>
      </p:sp>
      <p:sp>
        <p:nvSpPr>
          <p:cNvPr id="21" name="Shape 17"/>
          <p:cNvSpPr/>
          <p:nvPr/>
        </p:nvSpPr>
        <p:spPr>
          <a:xfrm>
            <a:off x="4882896" y="1600200"/>
            <a:ext cx="310896" cy="237744"/>
          </a:xfrm>
          <a:prstGeom prst="roundRect">
            <a:avLst>
              <a:gd name="adj" fmla="val 23077"/>
            </a:avLst>
          </a:prstGeom>
          <a:solidFill>
            <a:srgbClr val="7B8CFF">
              <a:alpha val="20000"/>
            </a:srgbClr>
          </a:solidFill>
          <a:ln w="9525">
            <a:solidFill>
              <a:srgbClr val="7B8CFF"/>
            </a:solidFill>
            <a:prstDash val="solid"/>
          </a:ln>
        </p:spPr>
      </p:sp>
      <p:sp>
        <p:nvSpPr>
          <p:cNvPr id="22" name="Text 18"/>
          <p:cNvSpPr txBox="1"/>
          <p:nvPr/>
        </p:nvSpPr>
        <p:spPr>
          <a:xfrm>
            <a:off x="4882896" y="1600200"/>
            <a:ext cx="3108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7B8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000" dirty="0"/>
          </a:p>
        </p:txBody>
      </p:sp>
      <p:sp>
        <p:nvSpPr>
          <p:cNvPr id="23" name="Shape 19"/>
          <p:cNvSpPr/>
          <p:nvPr/>
        </p:nvSpPr>
        <p:spPr>
          <a:xfrm>
            <a:off x="5971032" y="1536192"/>
            <a:ext cx="420624" cy="420624"/>
          </a:xfrm>
          <a:prstGeom prst="ellipse">
            <a:avLst/>
          </a:prstGeom>
          <a:solidFill>
            <a:srgbClr val="7B8CFF">
              <a:alpha val="18000"/>
            </a:srgbClr>
          </a:solidFill>
          <a:ln w="9525">
            <a:solidFill>
              <a:srgbClr val="7B8CFF">
                <a:alpha val="60000"/>
              </a:srgbClr>
            </a:solidFill>
            <a:prstDash val="solid"/>
          </a:ln>
        </p:spPr>
      </p:sp>
      <p:pic>
        <p:nvPicPr>
          <p:cNvPr id="2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71982" y="1637142"/>
            <a:ext cx="218724" cy="218724"/>
          </a:xfrm>
          <a:prstGeom prst="rect">
            <a:avLst/>
          </a:prstGeom>
        </p:spPr>
      </p:pic>
      <p:sp>
        <p:nvSpPr>
          <p:cNvPr id="25" name="Text 20"/>
          <p:cNvSpPr txBox="1"/>
          <p:nvPr/>
        </p:nvSpPr>
        <p:spPr>
          <a:xfrm>
            <a:off x="4882896" y="2103120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E8ED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CP-SAT</a:t>
            </a:r>
            <a:endParaRPr lang="en-US" sz="1500" dirty="0"/>
          </a:p>
        </p:txBody>
      </p:sp>
      <p:sp>
        <p:nvSpPr>
          <p:cNvPr id="26" name="Text 21"/>
          <p:cNvSpPr txBox="1"/>
          <p:nvPr/>
        </p:nvSpPr>
        <p:spPr>
          <a:xfrm>
            <a:off x="4882896" y="2487168"/>
            <a:ext cx="1508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8E9D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Слоты, пути, маршруты, локомотивы и бригады. Лимит 1 с, иначе эвристика.</a:t>
            </a:r>
            <a:endParaRPr lang="en-US" sz="1100" dirty="0"/>
          </a:p>
        </p:txBody>
      </p:sp>
      <p:sp>
        <p:nvSpPr>
          <p:cNvPr id="27" name="Text 22"/>
          <p:cNvSpPr txBox="1"/>
          <p:nvPr/>
        </p:nvSpPr>
        <p:spPr>
          <a:xfrm>
            <a:off x="6556248" y="2240280"/>
            <a:ext cx="2834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7B8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2200" dirty="0"/>
          </a:p>
        </p:txBody>
      </p:sp>
      <p:sp>
        <p:nvSpPr>
          <p:cNvPr id="28" name="Shape 23"/>
          <p:cNvSpPr/>
          <p:nvPr/>
        </p:nvSpPr>
        <p:spPr>
          <a:xfrm>
            <a:off x="6821424" y="1417320"/>
            <a:ext cx="1874520" cy="2103120"/>
          </a:xfrm>
          <a:prstGeom prst="roundRect">
            <a:avLst>
              <a:gd name="adj" fmla="val 4878"/>
            </a:avLst>
          </a:prstGeom>
          <a:solidFill>
            <a:srgbClr val="131C2E"/>
          </a:solidFill>
          <a:ln w="9525">
            <a:solidFill>
              <a:srgbClr val="26344F"/>
            </a:solidFill>
            <a:prstDash val="solid"/>
          </a:ln>
        </p:spPr>
      </p:sp>
      <p:sp>
        <p:nvSpPr>
          <p:cNvPr id="29" name="Shape 24"/>
          <p:cNvSpPr/>
          <p:nvPr/>
        </p:nvSpPr>
        <p:spPr>
          <a:xfrm>
            <a:off x="7004304" y="1600200"/>
            <a:ext cx="310896" cy="237744"/>
          </a:xfrm>
          <a:prstGeom prst="roundRect">
            <a:avLst>
              <a:gd name="adj" fmla="val 23077"/>
            </a:avLst>
          </a:prstGeom>
          <a:solidFill>
            <a:srgbClr val="7B8CFF">
              <a:alpha val="20000"/>
            </a:srgbClr>
          </a:solidFill>
          <a:ln w="9525">
            <a:solidFill>
              <a:srgbClr val="7B8CFF"/>
            </a:solidFill>
            <a:prstDash val="solid"/>
          </a:ln>
        </p:spPr>
      </p:sp>
      <p:sp>
        <p:nvSpPr>
          <p:cNvPr id="30" name="Text 25"/>
          <p:cNvSpPr txBox="1"/>
          <p:nvPr/>
        </p:nvSpPr>
        <p:spPr>
          <a:xfrm>
            <a:off x="7004304" y="1600200"/>
            <a:ext cx="3108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7B8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000" dirty="0"/>
          </a:p>
        </p:txBody>
      </p:sp>
      <p:sp>
        <p:nvSpPr>
          <p:cNvPr id="31" name="Shape 26"/>
          <p:cNvSpPr/>
          <p:nvPr/>
        </p:nvSpPr>
        <p:spPr>
          <a:xfrm>
            <a:off x="8092440" y="1536192"/>
            <a:ext cx="420624" cy="420624"/>
          </a:xfrm>
          <a:prstGeom prst="ellipse">
            <a:avLst/>
          </a:prstGeom>
          <a:solidFill>
            <a:srgbClr val="7B8CFF">
              <a:alpha val="18000"/>
            </a:srgbClr>
          </a:solidFill>
          <a:ln w="9525">
            <a:solidFill>
              <a:srgbClr val="7B8CFF">
                <a:alpha val="60000"/>
              </a:srgbClr>
            </a:solidFill>
            <a:prstDash val="solid"/>
          </a:ln>
        </p:spPr>
      </p:sp>
      <p:pic>
        <p:nvPicPr>
          <p:cNvPr id="3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93390" y="1637142"/>
            <a:ext cx="218724" cy="218724"/>
          </a:xfrm>
          <a:prstGeom prst="rect">
            <a:avLst/>
          </a:prstGeom>
        </p:spPr>
      </p:pic>
      <p:sp>
        <p:nvSpPr>
          <p:cNvPr id="33" name="Text 27"/>
          <p:cNvSpPr txBox="1"/>
          <p:nvPr/>
        </p:nvSpPr>
        <p:spPr>
          <a:xfrm>
            <a:off x="7004304" y="2103120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E8ED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Команды</a:t>
            </a:r>
            <a:endParaRPr lang="en-US" sz="1500" dirty="0"/>
          </a:p>
        </p:txBody>
      </p:sp>
      <p:sp>
        <p:nvSpPr>
          <p:cNvPr id="34" name="Text 28"/>
          <p:cNvSpPr txBox="1"/>
          <p:nvPr/>
        </p:nvSpPr>
        <p:spPr>
          <a:xfrm>
            <a:off x="7004304" y="2487168"/>
            <a:ext cx="1508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8E9D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Рекомендованная скорость, удержание, подача ресурсов заранее.</a:t>
            </a:r>
            <a:endParaRPr lang="en-US" sz="1100" dirty="0"/>
          </a:p>
        </p:txBody>
      </p:sp>
      <p:sp>
        <p:nvSpPr>
          <p:cNvPr id="35" name="Shape 29"/>
          <p:cNvSpPr/>
          <p:nvPr/>
        </p:nvSpPr>
        <p:spPr>
          <a:xfrm>
            <a:off x="457200" y="3794760"/>
            <a:ext cx="8229600" cy="777240"/>
          </a:xfrm>
          <a:prstGeom prst="roundRect">
            <a:avLst>
              <a:gd name="adj" fmla="val 11765"/>
            </a:avLst>
          </a:prstGeom>
          <a:solidFill>
            <a:srgbClr val="1A2540"/>
          </a:solidFill>
          <a:ln w="9525">
            <a:solidFill>
              <a:srgbClr val="26344F"/>
            </a:solidFill>
            <a:prstDash val="solid"/>
          </a:ln>
        </p:spPr>
      </p:sp>
      <p:sp>
        <p:nvSpPr>
          <p:cNvPr id="36" name="Text 30"/>
          <p:cNvSpPr txBox="1"/>
          <p:nvPr/>
        </p:nvSpPr>
        <p:spPr>
          <a:xfrm>
            <a:off x="685800" y="3840480"/>
            <a:ext cx="7772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ED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Скользящий горизонт 90 мин, пересчёт каждую минуту. </a:t>
            </a:r>
            <a:pPr indent="0" marL="0">
              <a:buNone/>
            </a:pPr>
            <a:r>
              <a:rPr lang="en-US" sz="1200" dirty="0">
                <a:solidFill>
                  <a:srgbClr val="8E9D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Уже начатые маршруты не трогаем (замороженная зона 5 мин), поэтому план не «дёргается» и диспетчер ему доверяет.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7B8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ИНТЕРФЕЙС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486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8ED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Рабочее место диспетчера</a:t>
            </a:r>
            <a:endParaRPr lang="en-US" sz="2600" dirty="0"/>
          </a:p>
        </p:txBody>
      </p:sp>
      <p:pic>
        <p:nvPicPr>
          <p:cNvPr id="4" name="Image 0" descr="ui_mai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234440"/>
            <a:ext cx="5559552" cy="347472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6263640" y="123444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E8ED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Схема станции вживую</a:t>
            </a:r>
            <a:endParaRPr lang="en-US" sz="1300" dirty="0"/>
          </a:p>
        </p:txBody>
      </p:sp>
      <p:sp>
        <p:nvSpPr>
          <p:cNvPr id="6" name="Text 3"/>
          <p:cNvSpPr txBox="1"/>
          <p:nvPr/>
        </p:nvSpPr>
        <p:spPr>
          <a:xfrm>
            <a:off x="6263640" y="150876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8E9D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 путей, 3 парка, 2 горловины. Поезда на подходе с рекомендованной скоростью.</a:t>
            </a:r>
            <a:endParaRPr lang="en-US" sz="1050" dirty="0"/>
          </a:p>
        </p:txBody>
      </p:sp>
      <p:sp>
        <p:nvSpPr>
          <p:cNvPr id="7" name="Text 4"/>
          <p:cNvSpPr txBox="1"/>
          <p:nvPr/>
        </p:nvSpPr>
        <p:spPr>
          <a:xfrm>
            <a:off x="6263640" y="210312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E8ED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График занятости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6263640" y="237744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8E9D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Факт сплошной линией, план ИИ пунктиром на 2 часа вперёд.</a:t>
            </a:r>
            <a:endParaRPr lang="en-US" sz="1050" dirty="0"/>
          </a:p>
        </p:txBody>
      </p:sp>
      <p:sp>
        <p:nvSpPr>
          <p:cNvPr id="9" name="Text 6"/>
          <p:cNvSpPr txBox="1"/>
          <p:nvPr/>
        </p:nvSpPr>
        <p:spPr>
          <a:xfrm>
            <a:off x="6263640" y="297180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E8ED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Рекомендации</a:t>
            </a:r>
            <a:endParaRPr lang="en-US" sz="1300" dirty="0"/>
          </a:p>
        </p:txBody>
      </p:sp>
      <p:sp>
        <p:nvSpPr>
          <p:cNvPr id="10" name="Text 7"/>
          <p:cNvSpPr txBox="1"/>
          <p:nvPr/>
        </p:nvSpPr>
        <p:spPr>
          <a:xfrm>
            <a:off x="6263640" y="324612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8E9D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Критичные и важные действия с прогнозом эффекта, принимаются в одно нажатие.</a:t>
            </a:r>
            <a:endParaRPr lang="en-US" sz="1050" dirty="0"/>
          </a:p>
        </p:txBody>
      </p:sp>
      <p:sp>
        <p:nvSpPr>
          <p:cNvPr id="11" name="Text 8"/>
          <p:cNvSpPr txBox="1"/>
          <p:nvPr/>
        </p:nvSpPr>
        <p:spPr>
          <a:xfrm>
            <a:off x="6263640" y="384048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E8ED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История и отчёты</a:t>
            </a:r>
            <a:endParaRPr lang="en-US" sz="1300" dirty="0"/>
          </a:p>
        </p:txBody>
      </p:sp>
      <p:sp>
        <p:nvSpPr>
          <p:cNvPr id="12" name="Text 9"/>
          <p:cNvSpPr txBox="1"/>
          <p:nvPr/>
        </p:nvSpPr>
        <p:spPr>
          <a:xfrm>
            <a:off x="6263640" y="411480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8E9D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Перемотка на 15 минут назад, выгрузка PDF и CSV.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7B8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НЕШТАТНАЯ СИТУАЦИЯ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486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8ED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Сбой → три варианта плана за 1,8 секунды</a:t>
            </a:r>
            <a:endParaRPr lang="en-US" sz="2600" dirty="0"/>
          </a:p>
        </p:txBody>
      </p:sp>
      <p:pic>
        <p:nvPicPr>
          <p:cNvPr id="4" name="Image 0" descr="ui_variant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234440"/>
            <a:ext cx="7498080" cy="315468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822960" y="4526280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8E9D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Закрытие пути, опоздание поезда или отказ локомотива. Варианты считаются параллельно с разными приоритетами; лучший по индексу применяется автоматически, человек остаётся в контуре. Требование кейса — 5 с, у нас 1,8 с от события до экрана.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7B8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БЕНЧМАРК · 12 МОДЕЛЬНЫХ ЧАСОВ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486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8ED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Результат: тот же поток, вдвое меньше ожидания</a:t>
            </a:r>
            <a:endParaRPr lang="en-US" sz="26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365760" y="1188720"/>
          <a:ext cx="4846320" cy="35204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5440680" y="1234440"/>
            <a:ext cx="1508760" cy="1600200"/>
          </a:xfrm>
          <a:prstGeom prst="roundRect">
            <a:avLst>
              <a:gd name="adj" fmla="val 6061"/>
            </a:avLst>
          </a:prstGeom>
          <a:solidFill>
            <a:srgbClr val="131C2E"/>
          </a:solidFill>
          <a:ln w="9525">
            <a:solidFill>
              <a:srgbClr val="26344F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5577840" y="1371600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34D2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−61%</a:t>
            </a:r>
            <a:endParaRPr lang="en-US" sz="2800" dirty="0"/>
          </a:p>
        </p:txBody>
      </p:sp>
      <p:sp>
        <p:nvSpPr>
          <p:cNvPr id="7" name="Text 4"/>
          <p:cNvSpPr txBox="1"/>
          <p:nvPr/>
        </p:nvSpPr>
        <p:spPr>
          <a:xfrm>
            <a:off x="5577840" y="196596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E8ED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среднее ожидание приёма</a:t>
            </a:r>
            <a:endParaRPr lang="en-US" sz="1050" dirty="0"/>
          </a:p>
        </p:txBody>
      </p:sp>
      <p:sp>
        <p:nvSpPr>
          <p:cNvPr id="8" name="Text 5"/>
          <p:cNvSpPr txBox="1"/>
          <p:nvPr/>
        </p:nvSpPr>
        <p:spPr>
          <a:xfrm>
            <a:off x="5577840" y="2450592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8E9D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28,8 → 11,1 мин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7086600" y="1234440"/>
            <a:ext cx="1508760" cy="1600200"/>
          </a:xfrm>
          <a:prstGeom prst="roundRect">
            <a:avLst>
              <a:gd name="adj" fmla="val 6061"/>
            </a:avLst>
          </a:prstGeom>
          <a:solidFill>
            <a:srgbClr val="131C2E"/>
          </a:solidFill>
          <a:ln w="9525">
            <a:solidFill>
              <a:srgbClr val="26344F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7223760" y="1371600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34D2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−79%</a:t>
            </a:r>
            <a:endParaRPr lang="en-US" sz="2800" dirty="0"/>
          </a:p>
        </p:txBody>
      </p:sp>
      <p:sp>
        <p:nvSpPr>
          <p:cNvPr id="11" name="Text 8"/>
          <p:cNvSpPr txBox="1"/>
          <p:nvPr/>
        </p:nvSpPr>
        <p:spPr>
          <a:xfrm>
            <a:off x="7223760" y="196596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E8ED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остановок у входного сигнала</a:t>
            </a:r>
            <a:endParaRPr lang="en-US" sz="1050" dirty="0"/>
          </a:p>
        </p:txBody>
      </p:sp>
      <p:sp>
        <p:nvSpPr>
          <p:cNvPr id="12" name="Text 9"/>
          <p:cNvSpPr txBox="1"/>
          <p:nvPr/>
        </p:nvSpPr>
        <p:spPr>
          <a:xfrm>
            <a:off x="7223760" y="2450592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8E9D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114 → 24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5440680" y="3017520"/>
            <a:ext cx="1508760" cy="1600200"/>
          </a:xfrm>
          <a:prstGeom prst="roundRect">
            <a:avLst>
              <a:gd name="adj" fmla="val 6061"/>
            </a:avLst>
          </a:prstGeom>
          <a:solidFill>
            <a:srgbClr val="131C2E"/>
          </a:solidFill>
          <a:ln w="9525">
            <a:solidFill>
              <a:srgbClr val="26344F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5577840" y="3154680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34D2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−89%</a:t>
            </a:r>
            <a:endParaRPr lang="en-US" sz="2800" dirty="0"/>
          </a:p>
        </p:txBody>
      </p:sp>
      <p:sp>
        <p:nvSpPr>
          <p:cNvPr id="15" name="Text 12"/>
          <p:cNvSpPr txBox="1"/>
          <p:nvPr/>
        </p:nvSpPr>
        <p:spPr>
          <a:xfrm>
            <a:off x="5577840" y="374904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E8ED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задержка пассажирских</a:t>
            </a:r>
            <a:endParaRPr lang="en-US" sz="1050" dirty="0"/>
          </a:p>
        </p:txBody>
      </p:sp>
      <p:sp>
        <p:nvSpPr>
          <p:cNvPr id="16" name="Text 13"/>
          <p:cNvSpPr txBox="1"/>
          <p:nvPr/>
        </p:nvSpPr>
        <p:spPr>
          <a:xfrm>
            <a:off x="5577840" y="4233672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8E9D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25,9 → 2,9 мин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7086600" y="3017520"/>
            <a:ext cx="1508760" cy="1600200"/>
          </a:xfrm>
          <a:prstGeom prst="roundRect">
            <a:avLst>
              <a:gd name="adj" fmla="val 6061"/>
            </a:avLst>
          </a:prstGeom>
          <a:solidFill>
            <a:srgbClr val="131C2E"/>
          </a:solidFill>
          <a:ln w="9525">
            <a:solidFill>
              <a:srgbClr val="26344F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7223760" y="3154680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34D2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+7%</a:t>
            </a:r>
            <a:endParaRPr lang="en-US" sz="2800" dirty="0"/>
          </a:p>
        </p:txBody>
      </p:sp>
      <p:sp>
        <p:nvSpPr>
          <p:cNvPr id="19" name="Text 16"/>
          <p:cNvSpPr txBox="1"/>
          <p:nvPr/>
        </p:nvSpPr>
        <p:spPr>
          <a:xfrm>
            <a:off x="7223760" y="374904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E8ED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отправлено поездов</a:t>
            </a:r>
            <a:endParaRPr lang="en-US" sz="1050" dirty="0"/>
          </a:p>
        </p:txBody>
      </p:sp>
      <p:sp>
        <p:nvSpPr>
          <p:cNvPr id="20" name="Text 17"/>
          <p:cNvSpPr txBox="1"/>
          <p:nvPr/>
        </p:nvSpPr>
        <p:spPr>
          <a:xfrm>
            <a:off x="7223760" y="4233672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8E9D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134 → 143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7B8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ДВА ЦИФРОВЫХ ДВОЙНИКА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486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8ED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Честное сравнение прямо в интерфейсе</a:t>
            </a:r>
            <a:endParaRPr lang="en-US" sz="2600" dirty="0"/>
          </a:p>
        </p:txBody>
      </p:sp>
      <p:pic>
        <p:nvPicPr>
          <p:cNvPr id="4" name="Image 0" descr="ui_compar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127248" y="1234440"/>
            <a:ext cx="5559552" cy="347472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1234440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E8ED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Один входной поток</a:t>
            </a:r>
            <a:endParaRPr lang="en-US" sz="13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536192"/>
            <a:ext cx="2468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8E9D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Оба двойника получают одинаковый график поездов и одинаковые сбои.</a:t>
            </a:r>
            <a:endParaRPr lang="en-US" sz="1100" dirty="0"/>
          </a:p>
        </p:txBody>
      </p:sp>
      <p:sp>
        <p:nvSpPr>
          <p:cNvPr id="7" name="Text 4"/>
          <p:cNvSpPr txBox="1"/>
          <p:nvPr/>
        </p:nvSpPr>
        <p:spPr>
          <a:xfrm>
            <a:off x="457200" y="2377440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E8ED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Разный способ управления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457200" y="2679192"/>
            <a:ext cx="2468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8E9D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Слева реактивный диспетчер FCFS, справа план ИИ.</a:t>
            </a:r>
            <a:endParaRPr lang="en-US" sz="1100" dirty="0"/>
          </a:p>
        </p:txBody>
      </p:sp>
      <p:sp>
        <p:nvSpPr>
          <p:cNvPr id="9" name="Text 6"/>
          <p:cNvSpPr txBox="1"/>
          <p:nvPr/>
        </p:nvSpPr>
        <p:spPr>
          <a:xfrm>
            <a:off x="457200" y="3520440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E8ED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Разница видна жюри</a:t>
            </a:r>
            <a:endParaRPr lang="en-US" sz="1300" dirty="0"/>
          </a:p>
        </p:txBody>
      </p:sp>
      <p:sp>
        <p:nvSpPr>
          <p:cNvPr id="10" name="Text 7"/>
          <p:cNvSpPr txBox="1"/>
          <p:nvPr/>
        </p:nvSpPr>
        <p:spPr>
          <a:xfrm>
            <a:off x="457200" y="3822192"/>
            <a:ext cx="2468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8E9D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Индекс, очередь, ожидание и пропускная обновляются в реальном времени.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7B8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АРХИТЕКТУРА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486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8ED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Микросервисы на шине событий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1481328" cy="1051560"/>
          </a:xfrm>
          <a:prstGeom prst="roundRect">
            <a:avLst>
              <a:gd name="adj" fmla="val 8696"/>
            </a:avLst>
          </a:prstGeom>
          <a:solidFill>
            <a:srgbClr val="131C2E"/>
          </a:solidFill>
          <a:ln w="9525">
            <a:solidFill>
              <a:srgbClr val="26344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66928" y="1508760"/>
            <a:ext cx="12618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E8ED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Симулятор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1856232"/>
            <a:ext cx="12618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8E9D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цифровой двойник, WebSocket 1 Гц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1920240" y="1737360"/>
            <a:ext cx="2377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7B8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2139696" y="1417320"/>
            <a:ext cx="1481328" cy="1051560"/>
          </a:xfrm>
          <a:prstGeom prst="roundRect">
            <a:avLst>
              <a:gd name="adj" fmla="val 8696"/>
            </a:avLst>
          </a:prstGeom>
          <a:solidFill>
            <a:srgbClr val="131C2E"/>
          </a:solidFill>
          <a:ln w="9525">
            <a:solidFill>
              <a:srgbClr val="26344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249424" y="1508760"/>
            <a:ext cx="12618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E8ED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Ingest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2249424" y="1856232"/>
            <a:ext cx="12618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8E9D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валидация, дедуп, reconnect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3602736" y="1737360"/>
            <a:ext cx="2377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7B8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3822192" y="1417320"/>
            <a:ext cx="1481328" cy="1051560"/>
          </a:xfrm>
          <a:prstGeom prst="roundRect">
            <a:avLst>
              <a:gd name="adj" fmla="val 8696"/>
            </a:avLst>
          </a:prstGeom>
          <a:solidFill>
            <a:srgbClr val="131C2E"/>
          </a:solidFill>
          <a:ln w="9525">
            <a:solidFill>
              <a:srgbClr val="26344F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3931920" y="1508760"/>
            <a:ext cx="12618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E8ED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Redis Streams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3931920" y="1856232"/>
            <a:ext cx="12618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8E9D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шина событий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5285232" y="1737360"/>
            <a:ext cx="2377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7B8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5504688" y="1417320"/>
            <a:ext cx="1481328" cy="1051560"/>
          </a:xfrm>
          <a:prstGeom prst="roundRect">
            <a:avLst>
              <a:gd name="adj" fmla="val 8696"/>
            </a:avLst>
          </a:prstGeom>
          <a:solidFill>
            <a:srgbClr val="1A2540"/>
          </a:solidFill>
          <a:ln w="9525">
            <a:solidFill>
              <a:srgbClr val="26344F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614416" y="1508760"/>
            <a:ext cx="12618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7B8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Planner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5614416" y="1856232"/>
            <a:ext cx="12618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8E9D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CP-SAT + эвристика</a:t>
            </a:r>
            <a:endParaRPr lang="en-US" sz="1000" dirty="0"/>
          </a:p>
        </p:txBody>
      </p:sp>
      <p:sp>
        <p:nvSpPr>
          <p:cNvPr id="19" name="Text 17"/>
          <p:cNvSpPr txBox="1"/>
          <p:nvPr/>
        </p:nvSpPr>
        <p:spPr>
          <a:xfrm>
            <a:off x="6967728" y="1737360"/>
            <a:ext cx="2377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7B8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7187184" y="1417320"/>
            <a:ext cx="1481328" cy="1051560"/>
          </a:xfrm>
          <a:prstGeom prst="roundRect">
            <a:avLst>
              <a:gd name="adj" fmla="val 8696"/>
            </a:avLst>
          </a:prstGeom>
          <a:solidFill>
            <a:srgbClr val="131C2E"/>
          </a:solidFill>
          <a:ln w="9525">
            <a:solidFill>
              <a:srgbClr val="26344F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296912" y="1508760"/>
            <a:ext cx="12618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E8ED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7296912" y="1856232"/>
            <a:ext cx="12618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8E9D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FastAPI, REST + WS, JWT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57200" y="2788920"/>
            <a:ext cx="2606040" cy="1097280"/>
          </a:xfrm>
          <a:prstGeom prst="roundRect">
            <a:avLst>
              <a:gd name="adj" fmla="val 8333"/>
            </a:avLst>
          </a:prstGeom>
          <a:solidFill>
            <a:srgbClr val="131C2E"/>
          </a:solidFill>
          <a:ln w="9525">
            <a:solidFill>
              <a:srgbClr val="26344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40080" y="2926080"/>
            <a:ext cx="384048" cy="384048"/>
          </a:xfrm>
          <a:prstGeom prst="ellipse">
            <a:avLst/>
          </a:prstGeom>
          <a:solidFill>
            <a:srgbClr val="7B8CFF">
              <a:alpha val="18000"/>
            </a:srgbClr>
          </a:solidFill>
          <a:ln w="9525">
            <a:solidFill>
              <a:srgbClr val="7B8CFF">
                <a:alpha val="60000"/>
              </a:srgbClr>
            </a:solidFill>
            <a:prstDash val="solid"/>
          </a:ln>
        </p:spPr>
      </p:sp>
      <p:pic>
        <p:nvPicPr>
          <p:cNvPr id="2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2252" y="3018252"/>
            <a:ext cx="199705" cy="199705"/>
          </a:xfrm>
          <a:prstGeom prst="rect">
            <a:avLst/>
          </a:prstGeom>
        </p:spPr>
      </p:pic>
      <p:sp>
        <p:nvSpPr>
          <p:cNvPr id="26" name="Text 23"/>
          <p:cNvSpPr txBox="1"/>
          <p:nvPr/>
        </p:nvSpPr>
        <p:spPr>
          <a:xfrm>
            <a:off x="1143000" y="29077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ED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TimescaleDB</a:t>
            </a:r>
            <a:endParaRPr lang="en-US" sz="1300" dirty="0"/>
          </a:p>
        </p:txBody>
      </p:sp>
      <p:sp>
        <p:nvSpPr>
          <p:cNvPr id="27" name="Text 24"/>
          <p:cNvSpPr txBox="1"/>
          <p:nvPr/>
        </p:nvSpPr>
        <p:spPr>
          <a:xfrm>
            <a:off x="640080" y="3364992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8E9D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История состояний и планов, хранение 72 ч</a:t>
            </a:r>
            <a:endParaRPr lang="en-US" sz="1050" dirty="0"/>
          </a:p>
        </p:txBody>
      </p:sp>
      <p:sp>
        <p:nvSpPr>
          <p:cNvPr id="28" name="Shape 25"/>
          <p:cNvSpPr/>
          <p:nvPr/>
        </p:nvSpPr>
        <p:spPr>
          <a:xfrm>
            <a:off x="3246120" y="2788920"/>
            <a:ext cx="2606040" cy="1097280"/>
          </a:xfrm>
          <a:prstGeom prst="roundRect">
            <a:avLst>
              <a:gd name="adj" fmla="val 8333"/>
            </a:avLst>
          </a:prstGeom>
          <a:solidFill>
            <a:srgbClr val="131C2E"/>
          </a:solidFill>
          <a:ln w="9525">
            <a:solidFill>
              <a:srgbClr val="26344F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3429000" y="2926080"/>
            <a:ext cx="384048" cy="384048"/>
          </a:xfrm>
          <a:prstGeom prst="ellipse">
            <a:avLst/>
          </a:prstGeom>
          <a:solidFill>
            <a:srgbClr val="7B8CFF">
              <a:alpha val="18000"/>
            </a:srgbClr>
          </a:solidFill>
          <a:ln w="9525">
            <a:solidFill>
              <a:srgbClr val="7B8CFF">
                <a:alpha val="60000"/>
              </a:srgbClr>
            </a:solidFill>
            <a:prstDash val="solid"/>
          </a:ln>
        </p:spPr>
      </p:sp>
      <p:pic>
        <p:nvPicPr>
          <p:cNvPr id="3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21172" y="3018252"/>
            <a:ext cx="199705" cy="199705"/>
          </a:xfrm>
          <a:prstGeom prst="rect">
            <a:avLst/>
          </a:prstGeom>
        </p:spPr>
      </p:pic>
      <p:sp>
        <p:nvSpPr>
          <p:cNvPr id="31" name="Text 27"/>
          <p:cNvSpPr txBox="1"/>
          <p:nvPr/>
        </p:nvSpPr>
        <p:spPr>
          <a:xfrm>
            <a:off x="3931920" y="29077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ED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Prometheus + Grafana</a:t>
            </a:r>
            <a:endParaRPr lang="en-US" sz="1300" dirty="0"/>
          </a:p>
        </p:txBody>
      </p:sp>
      <p:sp>
        <p:nvSpPr>
          <p:cNvPr id="32" name="Text 28"/>
          <p:cNvSpPr txBox="1"/>
          <p:nvPr/>
        </p:nvSpPr>
        <p:spPr>
          <a:xfrm>
            <a:off x="3429000" y="3364992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8E9D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Метрики каждого сервиса, готовый дашборд</a:t>
            </a:r>
            <a:endParaRPr lang="en-US" sz="1050" dirty="0"/>
          </a:p>
        </p:txBody>
      </p:sp>
      <p:sp>
        <p:nvSpPr>
          <p:cNvPr id="33" name="Shape 29"/>
          <p:cNvSpPr/>
          <p:nvPr/>
        </p:nvSpPr>
        <p:spPr>
          <a:xfrm>
            <a:off x="6035040" y="2788920"/>
            <a:ext cx="2606040" cy="1097280"/>
          </a:xfrm>
          <a:prstGeom prst="roundRect">
            <a:avLst>
              <a:gd name="adj" fmla="val 8333"/>
            </a:avLst>
          </a:prstGeom>
          <a:solidFill>
            <a:srgbClr val="131C2E"/>
          </a:solidFill>
          <a:ln w="9525">
            <a:solidFill>
              <a:srgbClr val="26344F"/>
            </a:solidFill>
            <a:prstDash val="solid"/>
          </a:ln>
        </p:spPr>
      </p:sp>
      <p:sp>
        <p:nvSpPr>
          <p:cNvPr id="34" name="Shape 30"/>
          <p:cNvSpPr/>
          <p:nvPr/>
        </p:nvSpPr>
        <p:spPr>
          <a:xfrm>
            <a:off x="6217920" y="2926080"/>
            <a:ext cx="384048" cy="384048"/>
          </a:xfrm>
          <a:prstGeom prst="ellipse">
            <a:avLst/>
          </a:prstGeom>
          <a:solidFill>
            <a:srgbClr val="7B8CFF">
              <a:alpha val="18000"/>
            </a:srgbClr>
          </a:solidFill>
          <a:ln w="9525">
            <a:solidFill>
              <a:srgbClr val="7B8CFF">
                <a:alpha val="60000"/>
              </a:srgbClr>
            </a:solidFill>
            <a:prstDash val="solid"/>
          </a:ln>
        </p:spPr>
      </p:sp>
      <p:pic>
        <p:nvPicPr>
          <p:cNvPr id="3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10092" y="3018252"/>
            <a:ext cx="199705" cy="199705"/>
          </a:xfrm>
          <a:prstGeom prst="rect">
            <a:avLst/>
          </a:prstGeom>
        </p:spPr>
      </p:pic>
      <p:sp>
        <p:nvSpPr>
          <p:cNvPr id="36" name="Text 31"/>
          <p:cNvSpPr txBox="1"/>
          <p:nvPr/>
        </p:nvSpPr>
        <p:spPr>
          <a:xfrm>
            <a:off x="6720840" y="29077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ED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 + ECharts</a:t>
            </a:r>
            <a:endParaRPr lang="en-US" sz="1300" dirty="0"/>
          </a:p>
        </p:txBody>
      </p:sp>
      <p:sp>
        <p:nvSpPr>
          <p:cNvPr id="37" name="Text 32"/>
          <p:cNvSpPr txBox="1"/>
          <p:nvPr/>
        </p:nvSpPr>
        <p:spPr>
          <a:xfrm>
            <a:off x="6217920" y="3364992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8E9D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SVG-схема, Гант, режим сравнения</a:t>
            </a:r>
            <a:endParaRPr lang="en-US" sz="1050" dirty="0"/>
          </a:p>
        </p:txBody>
      </p:sp>
      <p:sp>
        <p:nvSpPr>
          <p:cNvPr id="38" name="Text 33"/>
          <p:cNvSpPr txBox="1"/>
          <p:nvPr/>
        </p:nvSpPr>
        <p:spPr>
          <a:xfrm>
            <a:off x="457200" y="41605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8E9D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Весь стенд поднимается одной командой: docker compose up. Конфигурация станции, индекса и планировщика — в YAML, веса меняются без перезапуска.</a:t>
            </a:r>
            <a:endParaRPr lang="en-US" sz="11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7B8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НАДЁЖНОСТЬ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486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8ED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Проверено нагрузкой и автотестами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28016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34D2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 мс</a:t>
            </a:r>
            <a:endParaRPr lang="en-US" sz="32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92024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8E9D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медианная задержка события до экрана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2560320" y="128016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34D2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 мс</a:t>
            </a:r>
            <a:endParaRPr lang="en-US" sz="3200" dirty="0"/>
          </a:p>
        </p:txBody>
      </p:sp>
      <p:sp>
        <p:nvSpPr>
          <p:cNvPr id="7" name="Text 5"/>
          <p:cNvSpPr txBox="1"/>
          <p:nvPr/>
        </p:nvSpPr>
        <p:spPr>
          <a:xfrm>
            <a:off x="2560320" y="192024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8E9D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p95 под стрессом ×10 (требование &lt; 500 мс)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4663440" y="128016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34D2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1,0 с</a:t>
            </a:r>
            <a:endParaRPr lang="en-US" sz="3200" dirty="0"/>
          </a:p>
        </p:txBody>
      </p:sp>
      <p:sp>
        <p:nvSpPr>
          <p:cNvPr id="9" name="Text 7"/>
          <p:cNvSpPr txBox="1"/>
          <p:nvPr/>
        </p:nvSpPr>
        <p:spPr>
          <a:xfrm>
            <a:off x="4663440" y="192024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8E9D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среднее время решателя, p95 1,08 с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6766560" y="128016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34D2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</a:t>
            </a:r>
            <a:endParaRPr lang="en-US" sz="3200" dirty="0"/>
          </a:p>
        </p:txBody>
      </p:sp>
      <p:sp>
        <p:nvSpPr>
          <p:cNvPr id="11" name="Text 9"/>
          <p:cNvSpPr txBox="1"/>
          <p:nvPr/>
        </p:nvSpPr>
        <p:spPr>
          <a:xfrm>
            <a:off x="6766560" y="192024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8E9D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автотест pytest + сквозной сценарий make demo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2743200"/>
            <a:ext cx="2606040" cy="1828800"/>
          </a:xfrm>
          <a:prstGeom prst="roundRect">
            <a:avLst>
              <a:gd name="adj" fmla="val 5000"/>
            </a:avLst>
          </a:prstGeom>
          <a:solidFill>
            <a:srgbClr val="131C2E"/>
          </a:solidFill>
          <a:ln w="9525">
            <a:solidFill>
              <a:srgbClr val="26344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40080" y="2926080"/>
            <a:ext cx="384048" cy="384048"/>
          </a:xfrm>
          <a:prstGeom prst="ellipse">
            <a:avLst/>
          </a:prstGeom>
          <a:solidFill>
            <a:srgbClr val="7B8CFF">
              <a:alpha val="18000"/>
            </a:srgbClr>
          </a:solidFill>
          <a:ln w="9525">
            <a:solidFill>
              <a:srgbClr val="7B8CFF">
                <a:alpha val="60000"/>
              </a:srgbClr>
            </a:solidFill>
            <a:prstDash val="solid"/>
          </a:ln>
        </p:spPr>
      </p:sp>
      <p:pic>
        <p:nvPicPr>
          <p:cNvPr id="1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2252" y="3018252"/>
            <a:ext cx="199705" cy="199705"/>
          </a:xfrm>
          <a:prstGeom prst="rect">
            <a:avLst/>
          </a:prstGeom>
        </p:spPr>
      </p:pic>
      <p:sp>
        <p:nvSpPr>
          <p:cNvPr id="15" name="Text 12"/>
          <p:cNvSpPr txBox="1"/>
          <p:nvPr/>
        </p:nvSpPr>
        <p:spPr>
          <a:xfrm>
            <a:off x="640080" y="3401568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E8ED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Решатель не уложился — план всё равно будет</a:t>
            </a:r>
            <a:endParaRPr lang="en-US" sz="1200" dirty="0"/>
          </a:p>
        </p:txBody>
      </p:sp>
      <p:sp>
        <p:nvSpPr>
          <p:cNvPr id="16" name="Text 13"/>
          <p:cNvSpPr txBox="1"/>
          <p:nvPr/>
        </p:nvSpPr>
        <p:spPr>
          <a:xfrm>
            <a:off x="640080" y="3904488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8E9D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Жадная эвристика даёт ответ, если CP-SAT не нашёл решение за лимит.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3246120" y="2743200"/>
            <a:ext cx="2606040" cy="1828800"/>
          </a:xfrm>
          <a:prstGeom prst="roundRect">
            <a:avLst>
              <a:gd name="adj" fmla="val 5000"/>
            </a:avLst>
          </a:prstGeom>
          <a:solidFill>
            <a:srgbClr val="131C2E"/>
          </a:solidFill>
          <a:ln w="9525">
            <a:solidFill>
              <a:srgbClr val="26344F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3429000" y="2926080"/>
            <a:ext cx="384048" cy="384048"/>
          </a:xfrm>
          <a:prstGeom prst="ellipse">
            <a:avLst/>
          </a:prstGeom>
          <a:solidFill>
            <a:srgbClr val="7B8CFF">
              <a:alpha val="18000"/>
            </a:srgbClr>
          </a:solidFill>
          <a:ln w="9525">
            <a:solidFill>
              <a:srgbClr val="7B8CFF">
                <a:alpha val="60000"/>
              </a:srgbClr>
            </a:solidFill>
            <a:prstDash val="solid"/>
          </a:ln>
        </p:spPr>
      </p:sp>
      <p:pic>
        <p:nvPicPr>
          <p:cNvPr id="1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21172" y="3018252"/>
            <a:ext cx="199705" cy="199705"/>
          </a:xfrm>
          <a:prstGeom prst="rect">
            <a:avLst/>
          </a:prstGeom>
        </p:spPr>
      </p:pic>
      <p:sp>
        <p:nvSpPr>
          <p:cNvPr id="20" name="Text 16"/>
          <p:cNvSpPr txBox="1"/>
          <p:nvPr/>
        </p:nvSpPr>
        <p:spPr>
          <a:xfrm>
            <a:off x="3429000" y="3401568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E8ED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Потеря связи не роняет систему</a:t>
            </a:r>
            <a:endParaRPr lang="en-US" sz="1200" dirty="0"/>
          </a:p>
        </p:txBody>
      </p:sp>
      <p:sp>
        <p:nvSpPr>
          <p:cNvPr id="21" name="Text 17"/>
          <p:cNvSpPr txBox="1"/>
          <p:nvPr/>
        </p:nvSpPr>
        <p:spPr>
          <a:xfrm>
            <a:off x="3429000" y="3904488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8E9D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Ingest переподключается с backoff, UI показывает «Нет связи» и восстанавливается сам.</a:t>
            </a:r>
            <a:endParaRPr lang="en-US" sz="1000" dirty="0"/>
          </a:p>
        </p:txBody>
      </p:sp>
      <p:sp>
        <p:nvSpPr>
          <p:cNvPr id="22" name="Shape 18"/>
          <p:cNvSpPr/>
          <p:nvPr/>
        </p:nvSpPr>
        <p:spPr>
          <a:xfrm>
            <a:off x="6035040" y="2743200"/>
            <a:ext cx="2606040" cy="1828800"/>
          </a:xfrm>
          <a:prstGeom prst="roundRect">
            <a:avLst>
              <a:gd name="adj" fmla="val 5000"/>
            </a:avLst>
          </a:prstGeom>
          <a:solidFill>
            <a:srgbClr val="131C2E"/>
          </a:solidFill>
          <a:ln w="9525">
            <a:solidFill>
              <a:srgbClr val="26344F"/>
            </a:solidFill>
            <a:prstDash val="solid"/>
          </a:ln>
        </p:spPr>
      </p:sp>
      <p:sp>
        <p:nvSpPr>
          <p:cNvPr id="23" name="Shape 19"/>
          <p:cNvSpPr/>
          <p:nvPr/>
        </p:nvSpPr>
        <p:spPr>
          <a:xfrm>
            <a:off x="6217920" y="2926080"/>
            <a:ext cx="384048" cy="384048"/>
          </a:xfrm>
          <a:prstGeom prst="ellipse">
            <a:avLst/>
          </a:prstGeom>
          <a:solidFill>
            <a:srgbClr val="7B8CFF">
              <a:alpha val="18000"/>
            </a:srgbClr>
          </a:solidFill>
          <a:ln w="9525">
            <a:solidFill>
              <a:srgbClr val="7B8CFF">
                <a:alpha val="60000"/>
              </a:srgbClr>
            </a:solidFill>
            <a:prstDash val="solid"/>
          </a:ln>
        </p:spPr>
      </p:sp>
      <p:pic>
        <p:nvPicPr>
          <p:cNvPr id="2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10092" y="3018252"/>
            <a:ext cx="199705" cy="199705"/>
          </a:xfrm>
          <a:prstGeom prst="rect">
            <a:avLst/>
          </a:prstGeom>
        </p:spPr>
      </p:pic>
      <p:sp>
        <p:nvSpPr>
          <p:cNvPr id="25" name="Text 20"/>
          <p:cNvSpPr txBox="1"/>
          <p:nvPr/>
        </p:nvSpPr>
        <p:spPr>
          <a:xfrm>
            <a:off x="6217920" y="3401568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E8ED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Роли и доступ</a:t>
            </a:r>
            <a:endParaRPr lang="en-US" sz="1200" dirty="0"/>
          </a:p>
        </p:txBody>
      </p:sp>
      <p:sp>
        <p:nvSpPr>
          <p:cNvPr id="26" name="Text 21"/>
          <p:cNvSpPr txBox="1"/>
          <p:nvPr/>
        </p:nvSpPr>
        <p:spPr>
          <a:xfrm>
            <a:off x="6217920" y="3904488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8E9D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Диспетчер управляет потоком, администратор меняет веса и лимиты. JWT, проверка прав на API.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4572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7B8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ИТОГ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77240"/>
            <a:ext cx="7772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E8ED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Станция принимает больше поездов и держит их меньше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965960"/>
            <a:ext cx="2560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400" b="1" dirty="0">
                <a:solidFill>
                  <a:srgbClr val="34D2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−61%</a:t>
            </a:r>
            <a:endParaRPr lang="en-US" sz="54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283464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E8ED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ожидание приёма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3246120" y="1965960"/>
            <a:ext cx="2560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400" b="1" dirty="0">
                <a:solidFill>
                  <a:srgbClr val="34D2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−89%</a:t>
            </a:r>
            <a:endParaRPr lang="en-US" sz="5400" dirty="0"/>
          </a:p>
        </p:txBody>
      </p:sp>
      <p:sp>
        <p:nvSpPr>
          <p:cNvPr id="7" name="Text 5"/>
          <p:cNvSpPr txBox="1"/>
          <p:nvPr/>
        </p:nvSpPr>
        <p:spPr>
          <a:xfrm>
            <a:off x="3246120" y="283464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E8ED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задержка пассажирских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6035040" y="1965960"/>
            <a:ext cx="2560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400" b="1" dirty="0">
                <a:solidFill>
                  <a:srgbClr val="34D2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+7%</a:t>
            </a:r>
            <a:endParaRPr lang="en-US" sz="5400" dirty="0"/>
          </a:p>
        </p:txBody>
      </p:sp>
      <p:sp>
        <p:nvSpPr>
          <p:cNvPr id="9" name="Text 7"/>
          <p:cNvSpPr txBox="1"/>
          <p:nvPr/>
        </p:nvSpPr>
        <p:spPr>
          <a:xfrm>
            <a:off x="6035040" y="283464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E8ED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пропускная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57200" y="3520440"/>
            <a:ext cx="8229600" cy="1051560"/>
          </a:xfrm>
          <a:prstGeom prst="roundRect">
            <a:avLst>
              <a:gd name="adj" fmla="val 8696"/>
            </a:avLst>
          </a:prstGeom>
          <a:solidFill>
            <a:srgbClr val="131C2E"/>
          </a:solidFill>
          <a:ln w="9525">
            <a:solidFill>
              <a:srgbClr val="2634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85800" y="363931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7B8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Дальше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685800" y="393192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8ED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Подключение к реальным данным АСУ станции вместо симулятора · ML-прогноз ETA по истории движения · координация слотов между соседними станциями участка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Цифровая станция — ИИ-диспетчер</dc:title>
  <dc:subject>PptxGenJS Presentation</dc:subject>
  <dc:creator>PptxGenJS</dc:creator>
  <cp:lastModifiedBy>PptxGenJS</cp:lastModifiedBy>
  <cp:revision>1</cp:revision>
  <dcterms:created xsi:type="dcterms:W3CDTF">2026-10-01T08:03:01Z</dcterms:created>
  <dcterms:modified xsi:type="dcterms:W3CDTF">2026-10-01T08:03:01Z</dcterms:modified>
</cp:coreProperties>
</file>